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1828800"/>
            <a:ext cx="9997135" cy="1645920"/>
          </a:xfrm>
          <a:prstGeom prst="rect">
            <a:avLst/>
          </a:prstGeom>
          <a:noFill/>
        </p:spPr>
        <p:txBody>
          <a:bodyPr wrap="square">
            <a:spAutoFit/>
          </a:bodyPr>
          <a:lstStyle/>
          <a:p>
            <a:pPr algn="ctr"/>
            <a:r>
              <a:rPr b="1" sz="4000">
                <a:solidFill>
                  <a:srgbClr val="000000"/>
                </a:solidFill>
                <a:latin typeface="Arial"/>
              </a:rPr>
              <a:t>Tesseract Journal Extension</a:t>
            </a:r>
          </a:p>
          <a:p>
            <a:pPr algn="ctr"/>
            <a:r>
              <a:rPr b="1" sz="4000">
                <a:solidFill>
                  <a:srgbClr val="000000"/>
                </a:solidFill>
                <a:latin typeface="Arial"/>
              </a:rPr>
              <a:t>Revision Briefing</a:t>
            </a:r>
          </a:p>
        </p:txBody>
      </p:sp>
      <p:sp>
        <p:nvSpPr>
          <p:cNvPr id="3" name="TextBox 2"/>
          <p:cNvSpPr txBox="1"/>
          <p:nvPr/>
        </p:nvSpPr>
        <p:spPr>
          <a:xfrm>
            <a:off x="1097280" y="3657600"/>
            <a:ext cx="9997135" cy="1463040"/>
          </a:xfrm>
          <a:prstGeom prst="rect">
            <a:avLst/>
          </a:prstGeom>
          <a:noFill/>
        </p:spPr>
        <p:txBody>
          <a:bodyPr wrap="square">
            <a:spAutoFit/>
          </a:bodyPr>
          <a:lstStyle/>
          <a:p>
            <a:pPr algn="ctr"/>
            <a:r>
              <a:rPr b="0" sz="1500">
                <a:solidFill>
                  <a:srgbClr val="000000"/>
                </a:solidFill>
                <a:latin typeface="Georgia"/>
              </a:rPr>
              <a:t>ACM Transactions on Spatial Algorithms and Systems</a:t>
            </a:r>
          </a:p>
          <a:p>
            <a:pPr algn="ctr"/>
            <a:r>
              <a:rPr b="0" sz="1500">
                <a:solidFill>
                  <a:srgbClr val="000000"/>
                </a:solidFill>
                <a:latin typeface="Georgia"/>
              </a:rPr>
              <a:t>Manuscript: Tesseract, Generating Indoor Graph Maps from Large-Scale Low-Semantic Floor Plans</a:t>
            </a:r>
          </a:p>
          <a:p>
            <a:pPr algn="ctr"/>
          </a:p>
          <a:p>
            <a:pPr algn="ctr"/>
            <a:r>
              <a:rPr b="0" sz="1500">
                <a:solidFill>
                  <a:srgbClr val="000000"/>
                </a:solidFill>
                <a:latin typeface="Georgia"/>
              </a:rPr>
              <a:t>Overview of the reviews, the work completed in response, and the state of the revision.</a:t>
            </a:r>
          </a:p>
          <a:p>
            <a:pPr algn="ctr"/>
            <a:r>
              <a:rPr b="0" sz="1500">
                <a:solidFill>
                  <a:srgbClr val="000000"/>
                </a:solidFill>
                <a:latin typeface="Georgia"/>
              </a:rPr>
              <a:t>Revision due September 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Summary of the Reviews</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Tesseract Journal Extension, Revision 1</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2</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All three reviewers recommended major revision, and all three considered the work publishable after improvement. None questioned the technical soundness of the pipeline. The concerns focus on the distance between what the paper claims and what it currently demonstrates.</a:t>
            </a:r>
          </a:p>
        </p:txBody>
      </p:sp>
      <p:sp>
        <p:nvSpPr>
          <p:cNvPr id="8" name="TextBox 7"/>
          <p:cNvSpPr txBox="1"/>
          <p:nvPr/>
        </p:nvSpPr>
        <p:spPr>
          <a:xfrm>
            <a:off x="685800" y="2221992"/>
            <a:ext cx="10820095" cy="365760"/>
          </a:xfrm>
          <a:prstGeom prst="rect">
            <a:avLst/>
          </a:prstGeom>
          <a:noFill/>
        </p:spPr>
        <p:txBody>
          <a:bodyPr wrap="square">
            <a:spAutoFit/>
          </a:bodyPr>
          <a:lstStyle/>
          <a:p>
            <a:pPr>
              <a:spcAft>
                <a:spcPts val="600"/>
              </a:spcAft>
            </a:pPr>
            <a:r>
              <a:rPr b="0" sz="1400">
                <a:solidFill>
                  <a:srgbClr val="000000"/>
                </a:solidFill>
                <a:latin typeface="Georgia"/>
              </a:rPr>
              <a:t>•  </a:t>
            </a:r>
            <a:r>
              <a:rPr b="1" sz="1400">
                <a:solidFill>
                  <a:srgbClr val="000000"/>
                </a:solidFill>
                <a:latin typeface="Georgia"/>
              </a:rPr>
              <a:t>Reviewer 1</a:t>
            </a:r>
            <a:r>
              <a:rPr b="0" sz="1400">
                <a:solidFill>
                  <a:srgbClr val="000000"/>
                </a:solidFill>
                <a:latin typeface="Georgia"/>
              </a:rPr>
              <a:t> found the paper well written and relevant. The two most substantive concerns were that Algorithm 1 does not guarantee the property the text states, and that the multi-floor extension, as realized, is too simple to carry the journal delta.</a:t>
            </a:r>
          </a:p>
          <a:p>
            <a:pPr>
              <a:spcAft>
                <a:spcPts val="600"/>
              </a:spcAft>
            </a:pPr>
            <a:r>
              <a:rPr b="0" sz="1400">
                <a:solidFill>
                  <a:srgbClr val="000000"/>
                </a:solidFill>
                <a:latin typeface="Georgia"/>
              </a:rPr>
              <a:t>•  </a:t>
            </a:r>
            <a:r>
              <a:rPr b="1" sz="1400">
                <a:solidFill>
                  <a:srgbClr val="000000"/>
                </a:solidFill>
                <a:latin typeface="Georgia"/>
              </a:rPr>
              <a:t>Reviewer 2</a:t>
            </a:r>
            <a:r>
              <a:rPr b="0" sz="1400">
                <a:solidFill>
                  <a:srgbClr val="000000"/>
                </a:solidFill>
                <a:latin typeface="Georgia"/>
              </a:rPr>
              <a:t> was broadly positive about the decomposition and the room-family mechanism, and listed seven specific weaknesses, mainly around automation clarity, the corridor-door failure mode, missing ablations, and the fidelity metric.</a:t>
            </a:r>
          </a:p>
          <a:p>
            <a:pPr>
              <a:spcAft>
                <a:spcPts val="600"/>
              </a:spcAft>
            </a:pPr>
            <a:r>
              <a:rPr b="0" sz="1400">
                <a:solidFill>
                  <a:srgbClr val="000000"/>
                </a:solidFill>
                <a:latin typeface="Georgia"/>
              </a:rPr>
              <a:t>•  </a:t>
            </a:r>
            <a:r>
              <a:rPr b="1" sz="1400">
                <a:solidFill>
                  <a:srgbClr val="000000"/>
                </a:solidFill>
                <a:latin typeface="Georgia"/>
              </a:rPr>
              <a:t>Reviewer 3</a:t>
            </a:r>
            <a:r>
              <a:rPr b="0" sz="1400">
                <a:solidFill>
                  <a:srgbClr val="000000"/>
                </a:solidFill>
                <a:latin typeface="Georgia"/>
              </a:rPr>
              <a:t> saw a valuable practical contribution and asked for repositioned contributions, restored dataset breadth, a baseline comparison, tempered automation claims, and concrete action on the dominant failure mode.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Common Themes Across the Three Reviews</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Tesseract Journal Extension, Revision 1</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3</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Four themes appear in more than one review, and they shaped the priorities of the revision.</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1.  </a:t>
            </a:r>
            <a:r>
              <a:rPr b="1" sz="1400">
                <a:solidFill>
                  <a:srgbClr val="000000"/>
                </a:solidFill>
                <a:latin typeface="Georgia"/>
              </a:rPr>
              <a:t>Automation.</a:t>
            </a:r>
            <a:r>
              <a:rPr b="0" sz="1400">
                <a:solidFill>
                  <a:srgbClr val="000000"/>
                </a:solidFill>
                <a:latin typeface="Georgia"/>
              </a:rPr>
              <a:t> The multi-floor correspondence was hand-written and then validated, which the reviewers felt did not match the automation language in the paper.</a:t>
            </a:r>
          </a:p>
          <a:p>
            <a:pPr>
              <a:spcAft>
                <a:spcPts val="600"/>
              </a:spcAft>
            </a:pPr>
            <a:r>
              <a:rPr b="0" sz="1400">
                <a:solidFill>
                  <a:srgbClr val="000000"/>
                </a:solidFill>
                <a:latin typeface="Georgia"/>
              </a:rPr>
              <a:t>2.  </a:t>
            </a:r>
            <a:r>
              <a:rPr b="1" sz="1400">
                <a:solidFill>
                  <a:srgbClr val="000000"/>
                </a:solidFill>
                <a:latin typeface="Georgia"/>
              </a:rPr>
              <a:t>The corridor-door failure mode.</a:t>
            </a:r>
            <a:r>
              <a:rPr b="0" sz="1400">
                <a:solidFill>
                  <a:srgbClr val="000000"/>
                </a:solidFill>
                <a:latin typeface="Georgia"/>
              </a:rPr>
              <a:t> The paper diagnosed missed corridor doors as the dominant failure but offered only a projection rather than a measured treatment.</a:t>
            </a:r>
          </a:p>
          <a:p>
            <a:pPr>
              <a:spcAft>
                <a:spcPts val="600"/>
              </a:spcAft>
            </a:pPr>
            <a:r>
              <a:rPr b="0" sz="1400">
                <a:solidFill>
                  <a:srgbClr val="000000"/>
                </a:solidFill>
                <a:latin typeface="Georgia"/>
              </a:rPr>
              <a:t>3.  </a:t>
            </a:r>
            <a:r>
              <a:rPr b="1" sz="1400">
                <a:solidFill>
                  <a:srgbClr val="000000"/>
                </a:solidFill>
                <a:latin typeface="Georgia"/>
              </a:rPr>
              <a:t>Evaluation breadth and rigor.</a:t>
            </a:r>
            <a:r>
              <a:rPr b="0" sz="1400">
                <a:solidFill>
                  <a:srgbClr val="000000"/>
                </a:solidFill>
                <a:latin typeface="Georgia"/>
              </a:rPr>
              <a:t> The journal version evaluated fewer sites than the conference paper, lacked ablations, and had no baseline comparison.</a:t>
            </a:r>
          </a:p>
          <a:p>
            <a:pPr>
              <a:spcAft>
                <a:spcPts val="600"/>
              </a:spcAft>
            </a:pPr>
            <a:r>
              <a:rPr b="0" sz="1400">
                <a:solidFill>
                  <a:srgbClr val="000000"/>
                </a:solidFill>
                <a:latin typeface="Georgia"/>
              </a:rPr>
              <a:t>4.  </a:t>
            </a:r>
            <a:r>
              <a:rPr b="1" sz="1400">
                <a:solidFill>
                  <a:srgbClr val="000000"/>
                </a:solidFill>
                <a:latin typeface="Georgia"/>
              </a:rPr>
              <a:t>Measurement quality.</a:t>
            </a:r>
            <a:r>
              <a:rPr b="0" sz="1400">
                <a:solidFill>
                  <a:srgbClr val="000000"/>
                </a:solidFill>
                <a:latin typeface="Georgia"/>
              </a:rPr>
              <a:t> The Euclidean fidelity proxy and the nominal inter-floor weights were both questioned as references for route quality.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Approach Taken in the Revision</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Tesseract Journal Extension, Revision 1</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4</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We treated the reviews as a specification for the system as much as for the text. Where a claim was ahead of the implementation, we extended the implementation. Where a result was asserted, we measured it. Where a metric was questioned, we replaced it with a more objective one.</a:t>
            </a:r>
          </a:p>
        </p:txBody>
      </p:sp>
      <p:sp>
        <p:nvSpPr>
          <p:cNvPr id="8" name="TextBox 7"/>
          <p:cNvSpPr txBox="1"/>
          <p:nvPr/>
        </p:nvSpPr>
        <p:spPr>
          <a:xfrm>
            <a:off x="685800" y="2221992"/>
            <a:ext cx="10820095" cy="365760"/>
          </a:xfrm>
          <a:prstGeom prst="rect">
            <a:avLst/>
          </a:prstGeom>
          <a:noFill/>
        </p:spPr>
        <p:txBody>
          <a:bodyPr wrap="square">
            <a:spAutoFit/>
          </a:bodyPr>
          <a:lstStyle/>
          <a:p>
            <a:pPr>
              <a:spcAft>
                <a:spcPts val="600"/>
              </a:spcAft>
            </a:pPr>
            <a:r>
              <a:rPr b="0" sz="1400">
                <a:solidFill>
                  <a:srgbClr val="000000"/>
                </a:solidFill>
                <a:latin typeface="Georgia"/>
              </a:rPr>
              <a:t>•  The manual inter-floor mapping is replaced by an automatic matching module, and the existing validation rules now verify the machine's output.</a:t>
            </a:r>
          </a:p>
          <a:p>
            <a:pPr>
              <a:spcAft>
                <a:spcPts val="600"/>
              </a:spcAft>
            </a:pPr>
            <a:r>
              <a:rPr b="0" sz="1400">
                <a:solidFill>
                  <a:srgbClr val="000000"/>
                </a:solidFill>
                <a:latin typeface="Georgia"/>
              </a:rPr>
              <a:t>•  The funneling guarantee is corrected, formally stated, and proven, with the difference from the earlier claim measured and reported.</a:t>
            </a:r>
          </a:p>
          <a:p>
            <a:pPr>
              <a:spcAft>
                <a:spcPts val="600"/>
              </a:spcAft>
            </a:pPr>
            <a:r>
              <a:rPr b="0" sz="1400">
                <a:solidFill>
                  <a:srgbClr val="000000"/>
                </a:solidFill>
                <a:latin typeface="Georgia"/>
              </a:rPr>
              <a:t>•  Eleven new or extended experiments support the contested claims, covering degradation, ablations, fidelity, density, text accuracy, downstream tasks, and a baseline.</a:t>
            </a:r>
          </a:p>
          <a:p>
            <a:pPr>
              <a:spcAft>
                <a:spcPts val="600"/>
              </a:spcAft>
            </a:pPr>
            <a:r>
              <a:rPr b="0" sz="1400">
                <a:solidFill>
                  <a:srgbClr val="000000"/>
                </a:solidFill>
                <a:latin typeface="Georgia"/>
              </a:rPr>
              <a:t>•  Every change in the manuscript is color-coded by the reviewer who motivated it, and every response in the letter is localized by section, subsection, and figure or table number.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Reviewer Requests on the Paper, Part 1</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Reviewer requests, grouped</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5</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1" sz="1400">
                <a:solidFill>
                  <a:srgbClr val="000000"/>
                </a:solidFill>
                <a:latin typeface="Georgia"/>
              </a:rPr>
              <a:t>Positioning and claims</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Position the extension around multi-floor graph construction and the room-family representation, and do not present door classification as a new contribution (R3.1a, R3.1b).</a:t>
            </a:r>
          </a:p>
          <a:p>
            <a:pPr>
              <a:spcAft>
                <a:spcPts val="600"/>
              </a:spcAft>
            </a:pPr>
            <a:r>
              <a:rPr b="0" sz="1400">
                <a:solidFill>
                  <a:srgbClr val="000000"/>
                </a:solidFill>
                <a:latin typeface="Georgia"/>
              </a:rPr>
              <a:t>•  Temper the automation claims, since a hand-written mapping plus filename metadata is not automatic inference (R1.9, R2.W1, R3.2).</a:t>
            </a:r>
          </a:p>
          <a:p>
            <a:pPr>
              <a:spcAft>
                <a:spcPts val="600"/>
              </a:spcAft>
            </a:pPr>
            <a:r>
              <a:rPr b="0" sz="1400">
                <a:solidFill>
                  <a:srgbClr val="000000"/>
                </a:solidFill>
                <a:latin typeface="Georgia"/>
              </a:rPr>
              <a:t>•  Narrow the general applicability language to the actual input assumptions (R3.4).</a:t>
            </a:r>
          </a:p>
        </p:txBody>
      </p:sp>
      <p:sp>
        <p:nvSpPr>
          <p:cNvPr id="9" name="TextBox 8"/>
          <p:cNvSpPr txBox="1"/>
          <p:nvPr/>
        </p:nvSpPr>
        <p:spPr>
          <a:xfrm>
            <a:off x="685800" y="2935224"/>
            <a:ext cx="10820095" cy="365760"/>
          </a:xfrm>
          <a:prstGeom prst="rect">
            <a:avLst/>
          </a:prstGeom>
          <a:noFill/>
        </p:spPr>
        <p:txBody>
          <a:bodyPr wrap="square">
            <a:spAutoFit/>
          </a:bodyPr>
          <a:lstStyle/>
          <a:p>
            <a:pPr>
              <a:spcAft>
                <a:spcPts val="600"/>
              </a:spcAft>
            </a:pPr>
            <a:r>
              <a:rPr b="1" sz="1400">
                <a:solidFill>
                  <a:srgbClr val="000000"/>
                </a:solidFill>
                <a:latin typeface="Georgia"/>
              </a:rPr>
              <a:t>Definitions and mechanisms</a:t>
            </a:r>
          </a:p>
        </p:txBody>
      </p:sp>
      <p:sp>
        <p:nvSpPr>
          <p:cNvPr id="10" name="TextBox 9"/>
          <p:cNvSpPr txBox="1"/>
          <p:nvPr/>
        </p:nvSpPr>
        <p:spPr>
          <a:xfrm>
            <a:off x="685800" y="3355848"/>
            <a:ext cx="10820095" cy="365760"/>
          </a:xfrm>
          <a:prstGeom prst="rect">
            <a:avLst/>
          </a:prstGeom>
          <a:noFill/>
        </p:spPr>
        <p:txBody>
          <a:bodyPr wrap="square">
            <a:spAutoFit/>
          </a:bodyPr>
          <a:lstStyle/>
          <a:p>
            <a:pPr>
              <a:spcAft>
                <a:spcPts val="600"/>
              </a:spcAft>
            </a:pPr>
            <a:r>
              <a:rPr b="0" sz="1400">
                <a:solidFill>
                  <a:srgbClr val="000000"/>
                </a:solidFill>
                <a:latin typeface="Georgia"/>
              </a:rPr>
              <a:t>•  State the underlying representation explicitly (R1.2).</a:t>
            </a:r>
          </a:p>
          <a:p>
            <a:pPr>
              <a:spcAft>
                <a:spcPts val="600"/>
              </a:spcAft>
            </a:pPr>
            <a:r>
              <a:rPr b="0" sz="1400">
                <a:solidFill>
                  <a:srgbClr val="000000"/>
                </a:solidFill>
                <a:latin typeface="Georgia"/>
              </a:rPr>
              <a:t>•  Define exit doors and clarify directionality (R2.W4).</a:t>
            </a:r>
          </a:p>
          <a:p>
            <a:pPr>
              <a:spcAft>
                <a:spcPts val="600"/>
              </a:spcAft>
            </a:pPr>
            <a:r>
              <a:rPr b="0" sz="1400">
                <a:solidFill>
                  <a:srgbClr val="000000"/>
                </a:solidFill>
                <a:latin typeface="Georgia"/>
              </a:rPr>
              <a:t>•  Clarify corridor identification and the handling of unlabeled corridors (R2.W5).</a:t>
            </a:r>
          </a:p>
          <a:p>
            <a:pPr>
              <a:spcAft>
                <a:spcPts val="600"/>
              </a:spcAft>
            </a:pPr>
            <a:r>
              <a:rPr b="0" sz="1400">
                <a:solidFill>
                  <a:srgbClr val="000000"/>
                </a:solidFill>
                <a:latin typeface="Georgia"/>
              </a:rPr>
              <a:t>•  Describe the actual OCR error-handling mechanism (R1.11).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Reviewer Requests on the Paper, Part 2</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Reviewer requests, grouped</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6</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1" sz="1400">
                <a:solidFill>
                  <a:srgbClr val="000000"/>
                </a:solidFill>
                <a:latin typeface="Georgia"/>
              </a:rPr>
              <a:t>Presentation and rigor</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Include a figure showing the floor plans used in the evaluation (R1.5).</a:t>
            </a:r>
          </a:p>
          <a:p>
            <a:pPr>
              <a:spcAft>
                <a:spcPts val="600"/>
              </a:spcAft>
            </a:pPr>
            <a:r>
              <a:rPr b="0" sz="1400">
                <a:solidFill>
                  <a:srgbClr val="000000"/>
                </a:solidFill>
                <a:latin typeface="Georgia"/>
              </a:rPr>
              <a:t>•  Introduce every acronym at first use (R1.10).</a:t>
            </a:r>
          </a:p>
          <a:p>
            <a:pPr>
              <a:spcAft>
                <a:spcPts val="600"/>
              </a:spcAft>
            </a:pPr>
            <a:r>
              <a:rPr b="0" sz="1400">
                <a:solidFill>
                  <a:srgbClr val="000000"/>
                </a:solidFill>
                <a:latin typeface="Georgia"/>
              </a:rPr>
              <a:t>•  Define or remove the term semantic centroid (R1.17).</a:t>
            </a:r>
          </a:p>
          <a:p>
            <a:pPr>
              <a:spcAft>
                <a:spcPts val="600"/>
              </a:spcAft>
            </a:pPr>
            <a:r>
              <a:rPr b="0" sz="1400">
                <a:solidFill>
                  <a:srgbClr val="000000"/>
                </a:solidFill>
                <a:latin typeface="Georgia"/>
              </a:rPr>
              <a:t>•  Repair the node-placement figure whose panels are inconsistent (R1.13).</a:t>
            </a:r>
          </a:p>
          <a:p>
            <a:pPr>
              <a:spcAft>
                <a:spcPts val="600"/>
              </a:spcAft>
            </a:pPr>
            <a:r>
              <a:rPr b="0" sz="1400">
                <a:solidFill>
                  <a:srgbClr val="000000"/>
                </a:solidFill>
                <a:latin typeface="Georgia"/>
              </a:rPr>
              <a:t>•  Replace the box plot that cannot show a bimodal distribution (R1.16).</a:t>
            </a:r>
          </a:p>
          <a:p>
            <a:pPr>
              <a:spcAft>
                <a:spcPts val="600"/>
              </a:spcAft>
            </a:pPr>
            <a:r>
              <a:rPr b="0" sz="1400">
                <a:solidFill>
                  <a:srgbClr val="000000"/>
                </a:solidFill>
                <a:latin typeface="Georgia"/>
              </a:rPr>
              <a:t>•  Move a results paragraph out of the methods section (R1.15).</a:t>
            </a:r>
          </a:p>
          <a:p>
            <a:pPr>
              <a:spcAft>
                <a:spcPts val="600"/>
              </a:spcAft>
            </a:pPr>
            <a:r>
              <a:rPr b="0" sz="1400">
                <a:solidFill>
                  <a:srgbClr val="000000"/>
                </a:solidFill>
                <a:latin typeface="Georgia"/>
              </a:rPr>
              <a:t>•  Justify the use of label positions as main-node positions (R1.3).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Reviewer Requests on the Experiments, Part 1</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Reviewer requests, grouped</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7</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1" sz="1400">
                <a:solidFill>
                  <a:srgbClr val="000000"/>
                </a:solidFill>
                <a:latin typeface="Georgia"/>
              </a:rPr>
              <a:t>Correctness and guarantees</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Algorithm 1 does not guarantee main-node routing, so state and prove the property that actually holds (R1.4).</a:t>
            </a:r>
          </a:p>
          <a:p>
            <a:pPr>
              <a:spcAft>
                <a:spcPts val="600"/>
              </a:spcAft>
            </a:pPr>
            <a:r>
              <a:rPr b="0" sz="1400">
                <a:solidFill>
                  <a:srgbClr val="000000"/>
                </a:solidFill>
                <a:latin typeface="Georgia"/>
              </a:rPr>
              <a:t>•  Add ablations that isolate funneling, transition preservation, pruning, and the multi-floor validation constraints (R2.W6).</a:t>
            </a:r>
          </a:p>
        </p:txBody>
      </p:sp>
      <p:sp>
        <p:nvSpPr>
          <p:cNvPr id="9" name="TextBox 8"/>
          <p:cNvSpPr txBox="1"/>
          <p:nvPr/>
        </p:nvSpPr>
        <p:spPr>
          <a:xfrm>
            <a:off x="685800" y="2642616"/>
            <a:ext cx="10820095" cy="365760"/>
          </a:xfrm>
          <a:prstGeom prst="rect">
            <a:avLst/>
          </a:prstGeom>
          <a:noFill/>
        </p:spPr>
        <p:txBody>
          <a:bodyPr wrap="square">
            <a:spAutoFit/>
          </a:bodyPr>
          <a:lstStyle/>
          <a:p>
            <a:pPr>
              <a:spcAft>
                <a:spcPts val="600"/>
              </a:spcAft>
            </a:pPr>
            <a:r>
              <a:rPr b="1" sz="1400">
                <a:solidFill>
                  <a:srgbClr val="000000"/>
                </a:solidFill>
                <a:latin typeface="Georgia"/>
              </a:rPr>
              <a:t>The dominant failure mode</a:t>
            </a:r>
          </a:p>
        </p:txBody>
      </p:sp>
      <p:sp>
        <p:nvSpPr>
          <p:cNvPr id="10" name="TextBox 9"/>
          <p:cNvSpPr txBox="1"/>
          <p:nvPr/>
        </p:nvSpPr>
        <p:spPr>
          <a:xfrm>
            <a:off x="685800" y="3063240"/>
            <a:ext cx="10820095" cy="365760"/>
          </a:xfrm>
          <a:prstGeom prst="rect">
            <a:avLst/>
          </a:prstGeom>
          <a:noFill/>
        </p:spPr>
        <p:txBody>
          <a:bodyPr wrap="square">
            <a:spAutoFit/>
          </a:bodyPr>
          <a:lstStyle/>
          <a:p>
            <a:pPr>
              <a:spcAft>
                <a:spcPts val="600"/>
              </a:spcAft>
            </a:pPr>
            <a:r>
              <a:rPr b="0" sz="1400">
                <a:solidFill>
                  <a:srgbClr val="000000"/>
                </a:solidFill>
                <a:latin typeface="Georgia"/>
              </a:rPr>
              <a:t>•  Go beyond the recovery projection for missed corridor doors, through a stronger model, a recovery ablation, or a topological repair strategy (R2.W3, R3.3).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Reviewer Requests on the Experiments, Part 2</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Reviewer requests, grouped</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8</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1" sz="1400">
                <a:solidFill>
                  <a:srgbClr val="000000"/>
                </a:solidFill>
                <a:latin typeface="Georgia"/>
              </a:rPr>
              <a:t>Measurement quality</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Replace the Euclidean fidelity proxy with a navigationally realistic reference (R1.7, R2.W7, R3.5).</a:t>
            </a:r>
          </a:p>
          <a:p>
            <a:pPr>
              <a:spcAft>
                <a:spcPts val="600"/>
              </a:spcAft>
            </a:pPr>
            <a:r>
              <a:rPr b="0" sz="1400">
                <a:solidFill>
                  <a:srgbClr val="000000"/>
                </a:solidFill>
                <a:latin typeface="Georgia"/>
              </a:rPr>
              <a:t>•  Address the nominal inter-floor transition weights that can distort cross-floor fidelity (R3.5).</a:t>
            </a:r>
          </a:p>
        </p:txBody>
      </p:sp>
      <p:sp>
        <p:nvSpPr>
          <p:cNvPr id="9" name="TextBox 8"/>
          <p:cNvSpPr txBox="1"/>
          <p:nvPr/>
        </p:nvSpPr>
        <p:spPr>
          <a:xfrm>
            <a:off x="685800" y="2642616"/>
            <a:ext cx="10820095" cy="365760"/>
          </a:xfrm>
          <a:prstGeom prst="rect">
            <a:avLst/>
          </a:prstGeom>
          <a:noFill/>
        </p:spPr>
        <p:txBody>
          <a:bodyPr wrap="square">
            <a:spAutoFit/>
          </a:bodyPr>
          <a:lstStyle/>
          <a:p>
            <a:pPr>
              <a:spcAft>
                <a:spcPts val="600"/>
              </a:spcAft>
            </a:pPr>
            <a:r>
              <a:rPr b="1" sz="1400">
                <a:solidFill>
                  <a:srgbClr val="000000"/>
                </a:solidFill>
                <a:latin typeface="Georgia"/>
              </a:rPr>
              <a:t>Breadth and baselines</a:t>
            </a:r>
          </a:p>
        </p:txBody>
      </p:sp>
      <p:sp>
        <p:nvSpPr>
          <p:cNvPr id="10" name="TextBox 9"/>
          <p:cNvSpPr txBox="1"/>
          <p:nvPr/>
        </p:nvSpPr>
        <p:spPr>
          <a:xfrm>
            <a:off x="685800" y="3063240"/>
            <a:ext cx="10820095" cy="365760"/>
          </a:xfrm>
          <a:prstGeom prst="rect">
            <a:avLst/>
          </a:prstGeom>
          <a:noFill/>
        </p:spPr>
        <p:txBody>
          <a:bodyPr wrap="square">
            <a:spAutoFit/>
          </a:bodyPr>
          <a:lstStyle/>
          <a:p>
            <a:pPr>
              <a:spcAft>
                <a:spcPts val="600"/>
              </a:spcAft>
            </a:pPr>
            <a:r>
              <a:rPr b="0" sz="1400">
                <a:solidFill>
                  <a:srgbClr val="000000"/>
                </a:solidFill>
                <a:latin typeface="Georgia"/>
              </a:rPr>
              <a:t>•  Evaluate more than one building and restore the conference sites (R1.6, R2.W2, R3.1c).</a:t>
            </a:r>
          </a:p>
          <a:p>
            <a:pPr>
              <a:spcAft>
                <a:spcPts val="600"/>
              </a:spcAft>
            </a:pPr>
            <a:r>
              <a:rPr b="0" sz="1400">
                <a:solidFill>
                  <a:srgbClr val="000000"/>
                </a:solidFill>
                <a:latin typeface="Georgia"/>
              </a:rPr>
              <a:t>•  Compare against at least one competing approach (R3.1c).</a:t>
            </a:r>
          </a:p>
        </p:txBody>
      </p:sp>
      <p:sp>
        <p:nvSpPr>
          <p:cNvPr id="11" name="TextBox 10"/>
          <p:cNvSpPr txBox="1"/>
          <p:nvPr/>
        </p:nvSpPr>
        <p:spPr>
          <a:xfrm>
            <a:off x="685800" y="3776472"/>
            <a:ext cx="10820095" cy="365760"/>
          </a:xfrm>
          <a:prstGeom prst="rect">
            <a:avLst/>
          </a:prstGeom>
          <a:noFill/>
        </p:spPr>
        <p:txBody>
          <a:bodyPr wrap="square">
            <a:spAutoFit/>
          </a:bodyPr>
          <a:lstStyle/>
          <a:p>
            <a:pPr>
              <a:spcAft>
                <a:spcPts val="600"/>
              </a:spcAft>
            </a:pPr>
            <a:r>
              <a:rPr b="1" sz="1400">
                <a:solidFill>
                  <a:srgbClr val="000000"/>
                </a:solidFill>
                <a:latin typeface="Georgia"/>
              </a:rPr>
              <a:t>Unreported numbers</a:t>
            </a:r>
          </a:p>
        </p:txBody>
      </p:sp>
      <p:sp>
        <p:nvSpPr>
          <p:cNvPr id="12" name="TextBox 11"/>
          <p:cNvSpPr txBox="1"/>
          <p:nvPr/>
        </p:nvSpPr>
        <p:spPr>
          <a:xfrm>
            <a:off x="685800" y="4197096"/>
            <a:ext cx="10820095" cy="365760"/>
          </a:xfrm>
          <a:prstGeom prst="rect">
            <a:avLst/>
          </a:prstGeom>
          <a:noFill/>
        </p:spPr>
        <p:txBody>
          <a:bodyPr wrap="square">
            <a:spAutoFit/>
          </a:bodyPr>
          <a:lstStyle/>
          <a:p>
            <a:pPr>
              <a:spcAft>
                <a:spcPts val="600"/>
              </a:spcAft>
            </a:pPr>
            <a:r>
              <a:rPr b="0" sz="1400">
                <a:solidFill>
                  <a:srgbClr val="000000"/>
                </a:solidFill>
                <a:latin typeface="Georgia"/>
              </a:rPr>
              <a:t>•  Report text label detection and recognition accuracy with failure consequences (R1.8).</a:t>
            </a:r>
          </a:p>
          <a:p>
            <a:pPr>
              <a:spcAft>
                <a:spcPts val="600"/>
              </a:spcAft>
            </a:pPr>
            <a:r>
              <a:rPr b="0" sz="1400">
                <a:solidFill>
                  <a:srgbClr val="000000"/>
                </a:solidFill>
                <a:latin typeface="Georgia"/>
              </a:rPr>
              <a:t>•  Justify corridor node density with measurements (R1.1).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1. Automatic Inter-Floor Transition Matching, Method</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R1.9, R2.W1, R3.2 - Section 9.2</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9</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This stage addresses the shared concern that the multi-floor correspondence was manual. The system now infers which stairs and elevators on adjacent floors are the same physical shaft, in two steps.</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a:t>
            </a:r>
            <a:r>
              <a:rPr b="1" sz="1400">
                <a:solidFill>
                  <a:srgbClr val="000000"/>
                </a:solidFill>
                <a:latin typeface="Georgia"/>
              </a:rPr>
              <a:t>Registration.</a:t>
            </a:r>
            <a:r>
              <a:rPr b="0" sz="1400">
                <a:solidFill>
                  <a:srgbClr val="000000"/>
                </a:solidFill>
                <a:latin typeface="Georgia"/>
              </a:rPr>
              <a:t> The two floor drawings are aligned by a similarity transform. Candidates come from four generators, including phase correlation of glyph-filtered wall masks and a drawing-scale prior derived from detected door widths. Candidates are ranked by a symmetric coverage-gated chamfer distance on wall evidence and refined by least squares and iterative closest point.</a:t>
            </a:r>
          </a:p>
          <a:p>
            <a:pPr>
              <a:spcAft>
                <a:spcPts val="600"/>
              </a:spcAft>
            </a:pPr>
            <a:r>
              <a:rPr b="0" sz="1400">
                <a:solidFill>
                  <a:srgbClr val="000000"/>
                </a:solidFill>
                <a:latin typeface="Georgia"/>
              </a:rPr>
              <a:t>•  </a:t>
            </a:r>
            <a:r>
              <a:rPr b="1" sz="1400">
                <a:solidFill>
                  <a:srgbClr val="000000"/>
                </a:solidFill>
                <a:latin typeface="Georgia"/>
              </a:rPr>
              <a:t>Assignment with rejection.</a:t>
            </a:r>
            <a:r>
              <a:rPr b="0" sz="1400">
                <a:solidFill>
                  <a:srgbClr val="000000"/>
                </a:solidFill>
                <a:latin typeface="Georgia"/>
              </a:rPr>
              <a:t> A global optimal assignment pairs shafts across floors, and an explicit rejection option leaves a shaft unmatched when no pairing is good enough, which is the appropriate outcome for a stairwell that terminates.</a:t>
            </a:r>
          </a:p>
        </p:txBody>
      </p:sp>
      <p:sp>
        <p:nvSpPr>
          <p:cNvPr id="9" name="TextBox 8"/>
          <p:cNvSpPr txBox="1"/>
          <p:nvPr/>
        </p:nvSpPr>
        <p:spPr>
          <a:xfrm>
            <a:off x="685800" y="3520440"/>
            <a:ext cx="10820095" cy="365760"/>
          </a:xfrm>
          <a:prstGeom prst="rect">
            <a:avLst/>
          </a:prstGeom>
          <a:noFill/>
        </p:spPr>
        <p:txBody>
          <a:bodyPr wrap="square">
            <a:spAutoFit/>
          </a:bodyPr>
          <a:lstStyle/>
          <a:p>
            <a:pPr>
              <a:spcAft>
                <a:spcPts val="600"/>
              </a:spcAft>
            </a:pPr>
            <a:r>
              <a:rPr b="0" sz="1400">
                <a:solidFill>
                  <a:srgbClr val="000000"/>
                </a:solidFill>
                <a:latin typeface="Georgia"/>
              </a:rPr>
              <a:t>The hand-written mapping file remains available as an override, and the validation rules now verify the inferred result.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1. Automatic Inter-Floor Transition Matching, Results</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R1.9, R2.W1, R3.2 - Section 10.8, Figures 7 and 8</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10</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  Under controlled perturbations of a real floor, matching accuracy is 1.000 on every sweep, through 400 pixels of translation, 30 degrees of rotation, scale factors from 0.7 to 1.4, twin shafts down to 25 pixels apart, and shaft-deletion tests.</a:t>
            </a:r>
          </a:p>
          <a:p>
            <a:pPr>
              <a:spcAft>
                <a:spcPts val="600"/>
              </a:spcAft>
            </a:pPr>
            <a:r>
              <a:rPr b="0" sz="1400">
                <a:solidFill>
                  <a:srgbClr val="000000"/>
                </a:solidFill>
                <a:latin typeface="Georgia"/>
              </a:rPr>
              <a:t>•  A greedy nearest-neighbor baseline drops to 0.75 accuracy on close twins, which shows the benefit of solving the assignment globally.</a:t>
            </a:r>
          </a:p>
          <a:p>
            <a:pPr>
              <a:spcAft>
                <a:spcPts val="600"/>
              </a:spcAft>
            </a:pPr>
            <a:r>
              <a:rPr b="0" sz="1400">
                <a:solidFill>
                  <a:srgbClr val="000000"/>
                </a:solidFill>
                <a:latin typeface="Georgia"/>
              </a:rPr>
              <a:t>•  Median registration recovery error is 0.5 pixels under translation, 4.4 under rotation, and 4.9 under scale.</a:t>
            </a:r>
          </a:p>
          <a:p>
            <a:pPr>
              <a:spcAft>
                <a:spcPts val="600"/>
              </a:spcAft>
            </a:pPr>
            <a:r>
              <a:rPr b="0" sz="1400">
                <a:solidFill>
                  <a:srgbClr val="000000"/>
                </a:solidFill>
                <a:latin typeface="Georgia"/>
              </a:rPr>
              <a:t>•  On a genuinely different floor pair, the system accepts one supported correspondence at confidence 0.83, leaves every other shaft unmatched, and records explicit warnings in the mapping provenance. This conservative behavior is the intended outcome for partially overlapping sections.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2. Room-Family Funneling, Correction and Proof</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R1.4 - Section 7.3</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11</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Reviewer 1 observed that Algorithm 1 does not guarantee that subnode-to-door paths pass through the main node. The observation is correct, and we confirmed it in our own implementation, where 69 of 186 such shortest paths bypass the main node on the primary evaluation floor.</a:t>
            </a:r>
          </a:p>
        </p:txBody>
      </p:sp>
      <p:sp>
        <p:nvSpPr>
          <p:cNvPr id="8" name="TextBox 7"/>
          <p:cNvSpPr txBox="1"/>
          <p:nvPr/>
        </p:nvSpPr>
        <p:spPr>
          <a:xfrm>
            <a:off x="685800" y="2221992"/>
            <a:ext cx="10820095" cy="365760"/>
          </a:xfrm>
          <a:prstGeom prst="rect">
            <a:avLst/>
          </a:prstGeom>
          <a:noFill/>
        </p:spPr>
        <p:txBody>
          <a:bodyPr wrap="square">
            <a:spAutoFit/>
          </a:bodyPr>
          <a:lstStyle/>
          <a:p>
            <a:pPr>
              <a:spcAft>
                <a:spcPts val="600"/>
              </a:spcAft>
            </a:pPr>
            <a:r>
              <a:rPr b="0" sz="1400">
                <a:solidFill>
                  <a:srgbClr val="000000"/>
                </a:solidFill>
                <a:latin typeface="Georgia"/>
              </a:rPr>
              <a:t>•  The claim is replaced by the property that actually holds and that routing actually needs, namely complete intra-room connectivity at a linear number of intra-room edges.</a:t>
            </a:r>
          </a:p>
          <a:p>
            <a:pPr>
              <a:spcAft>
                <a:spcPts val="600"/>
              </a:spcAft>
            </a:pPr>
            <a:r>
              <a:rPr b="0" sz="1400">
                <a:solidFill>
                  <a:srgbClr val="000000"/>
                </a:solidFill>
                <a:latin typeface="Georgia"/>
              </a:rPr>
              <a:t>•  Algorithm 1 is rewritten to describe the construction as implemented, a transient proximity lattice with an anchor-rooted shortest-path tree and one shortcut edge per door.</a:t>
            </a:r>
          </a:p>
          <a:p>
            <a:pPr>
              <a:spcAft>
                <a:spcPts val="600"/>
              </a:spcAft>
            </a:pPr>
            <a:r>
              <a:rPr b="0" sz="1400">
                <a:solidFill>
                  <a:srgbClr val="000000"/>
                </a:solidFill>
                <a:latin typeface="Georgia"/>
              </a:rPr>
              <a:t>•  A new Proposition with proof establishes the guarantee, and the bypass behavior is described openly as intentional, since the shortcut edge shortens realized paths.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2. Room-Family Funneling, Ablation Results</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R1.4, R2.W6 - Section 10.4, Table 3</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12</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A three-way ablation compares the construction against a dense wiring upper bound and a single-node-per-room lower bound on the same floor.</a:t>
            </a:r>
          </a:p>
        </p:txBody>
      </p:sp>
      <p:graphicFrame>
        <p:nvGraphicFramePr>
          <p:cNvPr id="8" name="Table 7"/>
          <p:cNvGraphicFramePr>
            <a:graphicFrameLocks noGrp="1"/>
          </p:cNvGraphicFramePr>
          <p:nvPr/>
        </p:nvGraphicFramePr>
        <p:xfrm>
          <a:off x="685800" y="1929384"/>
          <a:ext cx="10820095" cy="1243584"/>
        </p:xfrm>
        <a:graphic>
          <a:graphicData uri="http://schemas.openxmlformats.org/drawingml/2006/table">
            <a:tbl>
              <a:tblPr>
                <a:tableStyleId>{5C22544A-7EE6-4342-B048-85BDC9FD1C3A}</a:tableStyleId>
              </a:tblPr>
              <a:tblGrid>
                <a:gridCol w="2705023"/>
                <a:gridCol w="2705023"/>
                <a:gridCol w="2705023"/>
                <a:gridCol w="2705026"/>
              </a:tblGrid>
              <a:tr h="310896">
                <a:tc>
                  <a:txBody>
                    <a:bodyPr/>
                    <a:lstStyle/>
                    <a:p>
                      <a:r>
                        <a:rPr b="1" sz="1200">
                          <a:solidFill>
                            <a:srgbClr val="000000"/>
                          </a:solidFill>
                          <a:latin typeface="Arial"/>
                        </a:rPr>
                        <a:t>Variant</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1" sz="1200">
                          <a:solidFill>
                            <a:srgbClr val="000000"/>
                          </a:solidFill>
                          <a:latin typeface="Arial"/>
                        </a:rPr>
                        <a:t>Intra-room edges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1" sz="1200">
                          <a:solidFill>
                            <a:srgbClr val="000000"/>
                          </a:solidFill>
                          <a:latin typeface="Arial"/>
                        </a:rPr>
                        <a:t>Completeness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1" sz="1200">
                          <a:solidFill>
                            <a:srgbClr val="000000"/>
                          </a:solidFill>
                          <a:latin typeface="Arial"/>
                        </a:rPr>
                        <a:t>Route stretch</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r h="310896">
                <a:tc>
                  <a:txBody>
                    <a:bodyPr/>
                    <a:lstStyle/>
                    <a:p>
                      <a:r>
                        <a:rPr b="0" sz="1200">
                          <a:solidFill>
                            <a:srgbClr val="000000"/>
                          </a:solidFill>
                          <a:latin typeface="Georgia"/>
                        </a:rPr>
                        <a:t>Dense wiring</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1,869</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1.000</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1.000 reference</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r h="310896">
                <a:tc>
                  <a:txBody>
                    <a:bodyPr/>
                    <a:lstStyle/>
                    <a:p>
                      <a:r>
                        <a:rPr b="0" sz="1200">
                          <a:solidFill>
                            <a:srgbClr val="000000"/>
                          </a:solidFill>
                          <a:latin typeface="Georgia"/>
                        </a:rPr>
                        <a:t>Funneling, ours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167</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1.000</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1.072</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r h="310896">
                <a:tc>
                  <a:txBody>
                    <a:bodyPr/>
                    <a:lstStyle/>
                    <a:p>
                      <a:r>
                        <a:rPr b="0" sz="1200">
                          <a:solidFill>
                            <a:srgbClr val="000000"/>
                          </a:solidFill>
                          <a:latin typeface="Georgia"/>
                        </a:rPr>
                        <a:t>One node per room</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none</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1.000</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1.135, no spatial detail</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bl>
          </a:graphicData>
        </a:graphic>
      </p:graphicFrame>
      <p:sp>
        <p:nvSpPr>
          <p:cNvPr id="9" name="TextBox 8"/>
          <p:cNvSpPr txBox="1"/>
          <p:nvPr/>
        </p:nvSpPr>
        <p:spPr>
          <a:xfrm>
            <a:off x="685800" y="3319272"/>
            <a:ext cx="10820095" cy="365760"/>
          </a:xfrm>
          <a:prstGeom prst="rect">
            <a:avLst/>
          </a:prstGeom>
          <a:noFill/>
        </p:spPr>
        <p:txBody>
          <a:bodyPr wrap="square">
            <a:spAutoFit/>
          </a:bodyPr>
          <a:lstStyle/>
          <a:p>
            <a:pPr>
              <a:spcAft>
                <a:spcPts val="600"/>
              </a:spcAft>
            </a:pPr>
            <a:r>
              <a:rPr b="0" sz="1400">
                <a:solidFill>
                  <a:srgbClr val="000000"/>
                </a:solidFill>
                <a:latin typeface="Georgia"/>
              </a:rPr>
              <a:t>•  A second floor yields exactly one intra-room edge per subnode, which matches the bound in the Proposition.</a:t>
            </a:r>
          </a:p>
          <a:p>
            <a:pPr>
              <a:spcAft>
                <a:spcPts val="600"/>
              </a:spcAft>
            </a:pPr>
            <a:r>
              <a:rPr b="0" sz="1400">
                <a:solidFill>
                  <a:srgbClr val="000000"/>
                </a:solidFill>
                <a:latin typeface="Georgia"/>
              </a:rPr>
              <a:t>•  The complexity analysis is now explicit, with 963 shortest-path computations completing in 2.0 seconds on the primary floor.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3. Door-Detector Degradation Study, Method</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R2.W3, R3.3 option (b) - Section 10.3</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13</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The reviewers asked for a measured treatment of the dominant failure mode, missed corridor doors, in place of the earlier projection.</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The study deletes doors from the pre-pruning graph, where the full corridor and room mesh is intact, and measures pairwise room completeness and exit reachability.</a:t>
            </a:r>
          </a:p>
          <a:p>
            <a:pPr>
              <a:spcAft>
                <a:spcPts val="600"/>
              </a:spcAft>
            </a:pPr>
            <a:r>
              <a:rPr b="0" sz="1400">
                <a:solidFill>
                  <a:srgbClr val="000000"/>
                </a:solidFill>
                <a:latin typeface="Georgia"/>
              </a:rPr>
              <a:t>•  Deletion runs from zero to fifty percent of detected doors, with twenty Monte-Carlo draws per level, both at random and restricted by door type.</a:t>
            </a:r>
          </a:p>
          <a:p>
            <a:pPr>
              <a:spcAft>
                <a:spcPts val="600"/>
              </a:spcAft>
            </a:pPr>
            <a:r>
              <a:rPr b="0" sz="1400">
                <a:solidFill>
                  <a:srgbClr val="000000"/>
                </a:solidFill>
                <a:latin typeface="Georgia"/>
              </a:rPr>
              <a:t>•  A per-door sensitivity analysis additionally deletes each corridor-to-corridor door on its own, which attributes the damage to individual doors rather than to a percentage.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3. Door-Detector Degradation Study, Findings</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R2.W3, R3.3 - Section 10.3, Figure 3, and Section 11</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14</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The findings refine the original claim in a useful way.</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Room-to-corridor deletions reduce completeness steadily, because each room depends on a single access door.</a:t>
            </a:r>
          </a:p>
          <a:p>
            <a:pPr>
              <a:spcAft>
                <a:spcPts val="600"/>
              </a:spcAft>
            </a:pPr>
            <a:r>
              <a:rPr b="0" sz="1400">
                <a:solidFill>
                  <a:srgbClr val="000000"/>
                </a:solidFill>
                <a:latin typeface="Georgia"/>
              </a:rPr>
              <a:t>•  Most corridor-to-corridor doors prove redundant, since the corridor mesh reconnects around them.</a:t>
            </a:r>
          </a:p>
          <a:p>
            <a:pPr>
              <a:spcAft>
                <a:spcPts val="600"/>
              </a:spcAft>
            </a:pPr>
            <a:r>
              <a:rPr b="0" sz="1400">
                <a:solidFill>
                  <a:srgbClr val="000000"/>
                </a:solidFill>
                <a:latin typeface="Georgia"/>
              </a:rPr>
              <a:t>•  The damage concentrates in bridge doors. On one evaluation floor, a single such door accounts for 0.51 of pairwise completeness and 0.54 of exit reachability on its own.</a:t>
            </a:r>
          </a:p>
          <a:p>
            <a:pPr>
              <a:spcAft>
                <a:spcPts val="600"/>
              </a:spcAft>
            </a:pPr>
            <a:r>
              <a:rPr b="0" sz="1400">
                <a:solidFill>
                  <a:srgbClr val="000000"/>
                </a:solidFill>
                <a:latin typeface="Georgia"/>
              </a:rPr>
              <a:t>•  Bridge doors coincide with the cut vertices of the graph, so the vulnerable doors can be identified mechanically. This turns the failure mode into a targeted verification problem, and the discussion outlines image-guided repair as future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4. Route Fidelity, New Reference</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R1.7, R2.W7, R3.5 - Section 10.6</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15</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The reviewers questioned the Euclidean distance proxy, and we agreed with the analysis. The revision validates route quality against free-space geodesics, the exact shortest walkable paths through the drawing's non-wall pixels, with doorways opened at detected door positions.</a:t>
            </a:r>
          </a:p>
        </p:txBody>
      </p:sp>
      <p:sp>
        <p:nvSpPr>
          <p:cNvPr id="8" name="TextBox 7"/>
          <p:cNvSpPr txBox="1"/>
          <p:nvPr/>
        </p:nvSpPr>
        <p:spPr>
          <a:xfrm>
            <a:off x="685800" y="2221992"/>
            <a:ext cx="10820095" cy="365760"/>
          </a:xfrm>
          <a:prstGeom prst="rect">
            <a:avLst/>
          </a:prstGeom>
          <a:noFill/>
        </p:spPr>
        <p:txBody>
          <a:bodyPr wrap="square">
            <a:spAutoFit/>
          </a:bodyPr>
          <a:lstStyle/>
          <a:p>
            <a:pPr>
              <a:spcAft>
                <a:spcPts val="600"/>
              </a:spcAft>
            </a:pPr>
            <a:r>
              <a:rPr b="0" sz="1400">
                <a:solidFill>
                  <a:srgbClr val="000000"/>
                </a:solidFill>
                <a:latin typeface="Georgia"/>
              </a:rPr>
              <a:t>•  Two variants bracket the truth, a permissive bound over all free space and a conservative bound that excludes the semantic outside class.</a:t>
            </a:r>
          </a:p>
          <a:p>
            <a:pPr>
              <a:spcAft>
                <a:spcPts val="600"/>
              </a:spcAft>
            </a:pPr>
            <a:r>
              <a:rPr b="0" sz="1400">
                <a:solidFill>
                  <a:srgbClr val="000000"/>
                </a:solidFill>
                <a:latin typeface="Georgia"/>
              </a:rPr>
              <a:t>•  Rendered overlays draw each geodesic and graph route on the floorplan, so the reference paths can be verified visually.</a:t>
            </a:r>
          </a:p>
          <a:p>
            <a:pPr>
              <a:spcAft>
                <a:spcPts val="600"/>
              </a:spcAft>
            </a:pPr>
            <a:r>
              <a:rPr b="0" sz="1400">
                <a:solidFill>
                  <a:srgbClr val="000000"/>
                </a:solidFill>
                <a:latin typeface="Georgia"/>
              </a:rPr>
              <a:t>•  The measured ratio of geodesic to Euclidean distance runs from 1.35 to 1.67 on average and reaches 3.3, which quantifies why the earlier proxy was a weak reference.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4. Route Fidelity, Results</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R1.7, R2.W7, R3.5 - Section 10.6, Figure 6</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16</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  On the primary enclosed floor, graph routes are within 4.7 percent of the optimal walkable paths on average, with a ninetieth percentile of 9.3 percent, and the two reference bounds agree.</a:t>
            </a:r>
          </a:p>
          <a:p>
            <a:pPr>
              <a:spcAft>
                <a:spcPts val="600"/>
              </a:spcAft>
            </a:pPr>
            <a:r>
              <a:rPr b="0" sz="1400">
                <a:solidFill>
                  <a:srgbClr val="000000"/>
                </a:solidFill>
                <a:latin typeface="Georgia"/>
              </a:rPr>
              <a:t>•  On the more open section, the conservative bound gives a mean stretch of 1.24 and the permissive bound gives 2.30. The gap between the bounds quantifies sparse outdoor routing, which the discussion now states as a limitation.</a:t>
            </a:r>
          </a:p>
          <a:p>
            <a:pPr>
              <a:spcAft>
                <a:spcPts val="600"/>
              </a:spcAft>
            </a:pPr>
            <a:r>
              <a:rPr b="0" sz="1400">
                <a:solidFill>
                  <a:srgbClr val="000000"/>
                </a:solidFill>
                <a:latin typeface="Georgia"/>
              </a:rPr>
              <a:t>•  The verification overlays are included with the revision, and a sample appears in the manuscript as Figure 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5. Physical Inter-Floor Edge Weights</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R3.5 - Section 9.3 and Section 10.8</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17</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Reviewer 3 noted that nominal transition weights can distort cross-floor fidelity, and the observation was correct. Inter-floor edges now carry modeled vertical travel instead of a unit cost.</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The weight is the product of a travel factor, a 4-meter story height, and the drawing scale in pixels per meter. The scale is estimated from detected door widths under the standardized 0.9-meter leaf, with factors of 2.2 for stairs and 1.0 for elevators.</a:t>
            </a:r>
          </a:p>
          <a:p>
            <a:pPr>
              <a:spcAft>
                <a:spcPts val="600"/>
              </a:spcAft>
            </a:pPr>
            <a:r>
              <a:rPr b="0" sz="1400">
                <a:solidFill>
                  <a:srgbClr val="000000"/>
                </a:solidFill>
                <a:latin typeface="Georgia"/>
              </a:rPr>
              <a:t>•  The scale estimates are independently consistent across floors, at 31.1 versus 32.2 pixels per meter, which supports the estimation approach.</a:t>
            </a:r>
          </a:p>
          <a:p>
            <a:pPr>
              <a:spcAft>
                <a:spcPts val="600"/>
              </a:spcAft>
            </a:pPr>
            <a:r>
              <a:rPr b="0" sz="1400">
                <a:solidFill>
                  <a:srgbClr val="000000"/>
                </a:solidFill>
                <a:latin typeface="Georgia"/>
              </a:rPr>
              <a:t>•  The correction changes the measured step-free detour ratio from 2.02 to 1.79, so the earlier unit weights had visibly inflated cross-floor costs.</a:t>
            </a:r>
          </a:p>
          <a:p>
            <a:pPr>
              <a:spcAft>
                <a:spcPts val="600"/>
              </a:spcAft>
            </a:pPr>
            <a:r>
              <a:rPr b="0" sz="1400">
                <a:solidFill>
                  <a:srgbClr val="000000"/>
                </a:solidFill>
                <a:latin typeface="Georgia"/>
              </a:rPr>
              <a:t>•  The same scale estimate also serves as a registration prior in the matching module.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6. Corridor Sampling Density</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R1.1 - Section 10.5, Figure 5</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18</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Reviewer 1 asked why corridors need dense node coverage. We reran the full pipeline at grid spacings from 20 to 80 pixels and measured the trade-off directly.</a:t>
            </a:r>
          </a:p>
        </p:txBody>
      </p:sp>
      <p:graphicFrame>
        <p:nvGraphicFramePr>
          <p:cNvPr id="8" name="Table 7"/>
          <p:cNvGraphicFramePr>
            <a:graphicFrameLocks noGrp="1"/>
          </p:cNvGraphicFramePr>
          <p:nvPr/>
        </p:nvGraphicFramePr>
        <p:xfrm>
          <a:off x="685800" y="1929384"/>
          <a:ext cx="10820095" cy="1243584"/>
        </p:xfrm>
        <a:graphic>
          <a:graphicData uri="http://schemas.openxmlformats.org/drawingml/2006/table">
            <a:tbl>
              <a:tblPr>
                <a:tableStyleId>{5C22544A-7EE6-4342-B048-85BDC9FD1C3A}</a:tableStyleId>
              </a:tblPr>
              <a:tblGrid>
                <a:gridCol w="2705023"/>
                <a:gridCol w="2705023"/>
                <a:gridCol w="2705023"/>
                <a:gridCol w="2705026"/>
              </a:tblGrid>
              <a:tr h="310896">
                <a:tc>
                  <a:txBody>
                    <a:bodyPr/>
                    <a:lstStyle/>
                    <a:p>
                      <a:r>
                        <a:rPr b="1" sz="1200">
                          <a:solidFill>
                            <a:srgbClr val="000000"/>
                          </a:solidFill>
                          <a:latin typeface="Arial"/>
                        </a:rPr>
                        <a:t>Spacing</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1" sz="1200">
                          <a:solidFill>
                            <a:srgbClr val="000000"/>
                          </a:solidFill>
                          <a:latin typeface="Arial"/>
                        </a:rPr>
                        <a:t>Nodes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1" sz="1200">
                          <a:solidFill>
                            <a:srgbClr val="000000"/>
                          </a:solidFill>
                          <a:latin typeface="Arial"/>
                        </a:rPr>
                        <a:t>Completeness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1" sz="1200">
                          <a:solidFill>
                            <a:srgbClr val="000000"/>
                          </a:solidFill>
                          <a:latin typeface="Arial"/>
                        </a:rPr>
                        <a:t>Route error versus 20 px</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r h="310896">
                <a:tc>
                  <a:txBody>
                    <a:bodyPr/>
                    <a:lstStyle/>
                    <a:p>
                      <a:r>
                        <a:rPr b="0" sz="1200">
                          <a:solidFill>
                            <a:srgbClr val="000000"/>
                          </a:solidFill>
                          <a:latin typeface="Georgia"/>
                        </a:rPr>
                        <a:t>20 px, default</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878</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1.000</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reference</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r h="310896">
                <a:tc>
                  <a:txBody>
                    <a:bodyPr/>
                    <a:lstStyle/>
                    <a:p>
                      <a:r>
                        <a:rPr b="0" sz="1200">
                          <a:solidFill>
                            <a:srgbClr val="000000"/>
                          </a:solidFill>
                          <a:latin typeface="Georgia"/>
                        </a:rPr>
                        <a:t>60 px</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375</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1.000</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4.6 percent</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r h="310896">
                <a:tc>
                  <a:txBody>
                    <a:bodyPr/>
                    <a:lstStyle/>
                    <a:p>
                      <a:r>
                        <a:rPr b="0" sz="1200">
                          <a:solidFill>
                            <a:srgbClr val="000000"/>
                          </a:solidFill>
                          <a:latin typeface="Georgia"/>
                        </a:rPr>
                        <a:t>80 px</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339</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0.492</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163 percent</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bl>
          </a:graphicData>
        </a:graphic>
      </p:graphicFrame>
      <p:sp>
        <p:nvSpPr>
          <p:cNvPr id="9" name="TextBox 8"/>
          <p:cNvSpPr txBox="1"/>
          <p:nvPr/>
        </p:nvSpPr>
        <p:spPr>
          <a:xfrm>
            <a:off x="685800" y="3319272"/>
            <a:ext cx="10820095" cy="365760"/>
          </a:xfrm>
          <a:prstGeom prst="rect">
            <a:avLst/>
          </a:prstGeom>
          <a:noFill/>
        </p:spPr>
        <p:txBody>
          <a:bodyPr wrap="square">
            <a:spAutoFit/>
          </a:bodyPr>
          <a:lstStyle/>
          <a:p>
            <a:pPr>
              <a:spcAft>
                <a:spcPts val="600"/>
              </a:spcAft>
            </a:pPr>
            <a:r>
              <a:rPr b="0" sz="1400">
                <a:solidFill>
                  <a:srgbClr val="000000"/>
                </a:solidFill>
                <a:latin typeface="Georgia"/>
              </a:rPr>
              <a:t>The reviewer's intuition is confirmed, since moderate density preserves both connectivity and route quality. The failure at 80 pixels is abrupt rather than gradual, so the denser default provides a safety margin against narrow corridors at a known and now-stated cost.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7. Pruning Ablations</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R2.W6, R1.14, R1.15 - Section 10.4, Figure 4</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19</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Reviewer 2 asked for component-level ablations of the pruning stage, and Reviewer 1 asked whether the transition protection is ever needed. Both questions are answered by re-deriving the keep-set with individual terms disabled.</a:t>
            </a:r>
          </a:p>
        </p:txBody>
      </p:sp>
      <p:sp>
        <p:nvSpPr>
          <p:cNvPr id="8" name="TextBox 7"/>
          <p:cNvSpPr txBox="1"/>
          <p:nvPr/>
        </p:nvSpPr>
        <p:spPr>
          <a:xfrm>
            <a:off x="685800" y="2221992"/>
            <a:ext cx="10820095" cy="365760"/>
          </a:xfrm>
          <a:prstGeom prst="rect">
            <a:avLst/>
          </a:prstGeom>
          <a:noFill/>
        </p:spPr>
        <p:txBody>
          <a:bodyPr wrap="square">
            <a:spAutoFit/>
          </a:bodyPr>
          <a:lstStyle/>
          <a:p>
            <a:pPr>
              <a:spcAft>
                <a:spcPts val="600"/>
              </a:spcAft>
            </a:pPr>
            <a:r>
              <a:rPr b="0" sz="1400">
                <a:solidFill>
                  <a:srgbClr val="000000"/>
                </a:solidFill>
                <a:latin typeface="Georgia"/>
              </a:rPr>
              <a:t>•  Removing the transition keep-term removes every transition from the pruned graph, and removing the exit term removes every exit door, so each term is individually necessary.</a:t>
            </a:r>
          </a:p>
          <a:p>
            <a:pPr>
              <a:spcAft>
                <a:spcPts val="600"/>
              </a:spcAft>
            </a:pPr>
            <a:r>
              <a:rPr b="0" sz="1400">
                <a:solidFill>
                  <a:srgbClr val="000000"/>
                </a:solidFill>
                <a:latin typeface="Georgia"/>
              </a:rPr>
              <a:t>•  The full pruning pass removes 59 percent of nodes and 82 percent of edges, from 2,139 to 878 nodes and from 6,262 to 1,118 edges.</a:t>
            </a:r>
          </a:p>
          <a:p>
            <a:pPr>
              <a:spcAft>
                <a:spcPts val="600"/>
              </a:spcAft>
            </a:pPr>
            <a:r>
              <a:rPr b="0" sz="1400">
                <a:solidFill>
                  <a:srgbClr val="000000"/>
                </a:solidFill>
                <a:latin typeface="Georgia"/>
              </a:rPr>
              <a:t>•  Measured route inflation is exactly zero, because kept paths are shortest paths by construction, and the mean query time improves from 2.10 to 0.50 milliseconds.</a:t>
            </a:r>
          </a:p>
          <a:p>
            <a:pPr>
              <a:spcAft>
                <a:spcPts val="600"/>
              </a:spcAft>
            </a:pPr>
            <a:r>
              <a:rPr b="0" sz="1400">
                <a:solidFill>
                  <a:srgbClr val="000000"/>
                </a:solidFill>
                <a:latin typeface="Georgia"/>
              </a:rPr>
              <a:t>•  The paragraph that previously justified this design inside the methods now closes the pruning analysis in the evaluation, as Reviewer 1 requested.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8. Text Accuracy and Vocabulary Matching</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R1.8, R1.11, R2.W5 - Sections 5.2 and 10.2</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20</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Reviewer 1 asked how well label extraction works and what happens when labels are missed. We measured both against a hand-enumerated ground truth of every visible label.</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Detection finds 43 of 43 labels, and recognition is exact for 41 of 43, which is 95.3 percent. Both failures truncate a leading digit of a room number, so the room node survives with an incorrect name and connectivity is unaffected.</a:t>
            </a:r>
          </a:p>
          <a:p>
            <a:pPr>
              <a:spcAft>
                <a:spcPts val="600"/>
              </a:spcAft>
            </a:pPr>
            <a:r>
              <a:rPr b="0" sz="1400">
                <a:solidFill>
                  <a:srgbClr val="000000"/>
                </a:solidFill>
                <a:latin typeface="Georgia"/>
              </a:rPr>
              <a:t>•  A label missed entirely leaves its region without a semantic seed. An unlabeled variant of the same drawing demonstrates this case by producing zero transition nodes.</a:t>
            </a:r>
          </a:p>
          <a:p>
            <a:pPr>
              <a:spcAft>
                <a:spcPts val="600"/>
              </a:spcAft>
            </a:pPr>
            <a:r>
              <a:rPr b="0" sz="1400">
                <a:solidFill>
                  <a:srgbClr val="000000"/>
                </a:solidFill>
                <a:latin typeface="Georgia"/>
              </a:rPr>
              <a:t>•  The vocabulary matcher was also strengthened during the revision. It now applies single-edit fuzzy tolerance for alphabetic tokens, with ambiguity rejection and numeric exclusion, verified by a set of 26 unit cases.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8. Label Placement Measurement</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R1.3, R1.17 - Sections 6.3 and 10.2</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21</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Reviewer 1 also asked why the label position should serve as the main node, since labels could in principle sit anywhere in a room. We measured the placement across the corpus.</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Across 172 rooms on nine floor sections, the offset between the label position and the geometric centroid of the room's region has a median of 0.24 room-equivalent radii and a worst case of 0.98.</a:t>
            </a:r>
          </a:p>
          <a:p>
            <a:pPr>
              <a:spcAft>
                <a:spcPts val="600"/>
              </a:spcAft>
            </a:pPr>
            <a:r>
              <a:rPr b="0" sz="1400">
                <a:solidFill>
                  <a:srgbClr val="000000"/>
                </a:solidFill>
                <a:latin typeface="Georgia"/>
              </a:rPr>
              <a:t>•  92 percent of labels fall inside the room's inscribed circle, so drafting practice does place labels centrally in this corpus.</a:t>
            </a:r>
          </a:p>
          <a:p>
            <a:pPr>
              <a:spcAft>
                <a:spcPts val="600"/>
              </a:spcAft>
            </a:pPr>
            <a:r>
              <a:rPr b="0" sz="1400">
                <a:solidFill>
                  <a:srgbClr val="000000"/>
                </a:solidFill>
                <a:latin typeface="Georgia"/>
              </a:rPr>
              <a:t>•  The revision reports this measurement as the justification and removes the imprecise term semantic centroid throughout, which also answers R1.17.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9. Downstream Task Validation</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R1.1 - Section 10.9</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22</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To answer the question of what the graph is for, the revision performs two navigation tasks on it directly.</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a:t>
            </a:r>
            <a:r>
              <a:rPr b="1" sz="1400">
                <a:solidFill>
                  <a:srgbClr val="000000"/>
                </a:solidFill>
                <a:latin typeface="Georgia"/>
              </a:rPr>
              <a:t>Step-free routing.</a:t>
            </a:r>
            <a:r>
              <a:rPr b="0" sz="1400">
                <a:solidFill>
                  <a:srgbClr val="000000"/>
                </a:solidFill>
                <a:latin typeface="Georgia"/>
              </a:rPr>
              <a:t> Routing with stairs forbidden is expressible because transitions are typed. On the two-floor merge with full correspondence, all 200 sampled cross-floor room pairs remain reachable without stairs, at a mean detour of 1.79 relative to unrestricted routing.</a:t>
            </a:r>
          </a:p>
          <a:p>
            <a:pPr>
              <a:spcAft>
                <a:spcPts val="600"/>
              </a:spcAft>
            </a:pPr>
            <a:r>
              <a:rPr b="0" sz="1400">
                <a:solidFill>
                  <a:srgbClr val="000000"/>
                </a:solidFill>
                <a:latin typeface="Georgia"/>
              </a:rPr>
              <a:t>•  On the pair where only a stairs correspondence exists, all 102 pairs are reachable normally and none is reachable step-free. The analysis therefore surfaces an accessibility gap that an untyped graph could not express, which illustrates the value of typed transitions concretely.</a:t>
            </a:r>
          </a:p>
          <a:p>
            <a:pPr>
              <a:spcAft>
                <a:spcPts val="600"/>
              </a:spcAft>
            </a:pPr>
            <a:r>
              <a:rPr b="0" sz="1400">
                <a:solidFill>
                  <a:srgbClr val="000000"/>
                </a:solidFill>
                <a:latin typeface="Georgia"/>
              </a:rPr>
              <a:t>•  </a:t>
            </a:r>
            <a:r>
              <a:rPr b="1" sz="1400">
                <a:solidFill>
                  <a:srgbClr val="000000"/>
                </a:solidFill>
                <a:latin typeface="Georgia"/>
              </a:rPr>
              <a:t>Egress analysis.</a:t>
            </a:r>
            <a:r>
              <a:rPr b="0" sz="1400">
                <a:solidFill>
                  <a:srgbClr val="000000"/>
                </a:solidFill>
                <a:latin typeface="Georgia"/>
              </a:rPr>
              <a:t> Every room on the evaluation floors has a path to an exit, with a median distance of 901 pixels and a ninetieth percentile of 1,503.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10. Baseline Comparison, Setup</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R3.1c - Section 10.7</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23</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Reviewer 3 asked for a comparison with a competing approach. The revision adds a structure-only baseline, the medial-axis skeleton of free space used as a routing backbone.</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The baseline is deliberately given a favorable setup. It receives our own room and exit detections, so the comparison isolates the routing structure rather than the semantic extraction.</a:t>
            </a:r>
          </a:p>
          <a:p>
            <a:pPr>
              <a:spcAft>
                <a:spcPts val="600"/>
              </a:spcAft>
            </a:pPr>
            <a:r>
              <a:rPr b="0" sz="1400">
                <a:solidFill>
                  <a:srgbClr val="000000"/>
                </a:solidFill>
                <a:latin typeface="Georgia"/>
              </a:rPr>
              <a:t>•  Both graphs are evaluated on the same room pairs against the same free-space geodesic reference, so the numbers are directly comparable.</a:t>
            </a:r>
          </a:p>
          <a:p>
            <a:pPr>
              <a:spcAft>
                <a:spcPts val="600"/>
              </a:spcAft>
            </a:pPr>
            <a:r>
              <a:rPr b="0" sz="1400">
                <a:solidFill>
                  <a:srgbClr val="000000"/>
                </a:solidFill>
                <a:latin typeface="Georgia"/>
              </a:rPr>
              <a:t>•  A comparison against a published learned floorplan parser is under investigation, and a structured qualitative comparison is the stated fallback if a fair run proves infeasible.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Stage 10. Baseline Comparison, Results</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Addresses R3.1c - Section 10.7, Table 4</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24</a:t>
            </a:r>
          </a:p>
        </p:txBody>
      </p:sp>
      <p:graphicFrame>
        <p:nvGraphicFramePr>
          <p:cNvPr id="7" name="Table 6"/>
          <p:cNvGraphicFramePr>
            <a:graphicFrameLocks noGrp="1"/>
          </p:cNvGraphicFramePr>
          <p:nvPr/>
        </p:nvGraphicFramePr>
        <p:xfrm>
          <a:off x="685800" y="1508760"/>
          <a:ext cx="10820095" cy="1865376"/>
        </p:xfrm>
        <a:graphic>
          <a:graphicData uri="http://schemas.openxmlformats.org/drawingml/2006/table">
            <a:tbl>
              <a:tblPr>
                <a:tableStyleId>{5C22544A-7EE6-4342-B048-85BDC9FD1C3A}</a:tableStyleId>
              </a:tblPr>
              <a:tblGrid>
                <a:gridCol w="3606698"/>
                <a:gridCol w="3606698"/>
                <a:gridCol w="3606699"/>
              </a:tblGrid>
              <a:tr h="310896">
                <a:tc>
                  <a:txBody>
                    <a:bodyPr/>
                    <a:lstStyle/>
                    <a:p>
                      <a:r>
                        <a:rPr b="1" sz="1200">
                          <a:solidFill>
                            <a:srgbClr val="000000"/>
                          </a:solidFill>
                          <a:latin typeface="Arial"/>
                        </a:rPr>
                        <a:t>Axis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1" sz="1200">
                          <a:solidFill>
                            <a:srgbClr val="000000"/>
                          </a:solidFill>
                          <a:latin typeface="Arial"/>
                        </a:rPr>
                        <a:t>Skeleton baseline</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1" sz="1200">
                          <a:solidFill>
                            <a:srgbClr val="000000"/>
                          </a:solidFill>
                          <a:latin typeface="Arial"/>
                        </a:rPr>
                        <a:t>Tesseract graph</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r h="310896">
                <a:tc>
                  <a:txBody>
                    <a:bodyPr/>
                    <a:lstStyle/>
                    <a:p>
                      <a:r>
                        <a:rPr b="0" sz="1200">
                          <a:solidFill>
                            <a:srgbClr val="000000"/>
                          </a:solidFill>
                          <a:latin typeface="Georgia"/>
                        </a:rPr>
                        <a:t>Graph size</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3.7 to 12 times more nodes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878 and 712 nodes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r h="310896">
                <a:tc>
                  <a:txBody>
                    <a:bodyPr/>
                    <a:lstStyle/>
                    <a:p>
                      <a:r>
                        <a:rPr b="0" sz="1200">
                          <a:solidFill>
                            <a:srgbClr val="000000"/>
                          </a:solidFill>
                          <a:latin typeface="Georgia"/>
                        </a:rPr>
                        <a:t>Completeness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0.78 to 0.83</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1.000</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r h="310896">
                <a:tc>
                  <a:txBody>
                    <a:bodyPr/>
                    <a:lstStyle/>
                    <a:p>
                      <a:r>
                        <a:rPr b="0" sz="1200">
                          <a:solidFill>
                            <a:srgbClr val="000000"/>
                          </a:solidFill>
                          <a:latin typeface="Georgia"/>
                        </a:rPr>
                        <a:t>Route stretch</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1.23 and 1.38</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1.05 and 1.23</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r h="310896">
                <a:tc>
                  <a:txBody>
                    <a:bodyPr/>
                    <a:lstStyle/>
                    <a:p>
                      <a:r>
                        <a:rPr b="0" sz="1200">
                          <a:solidFill>
                            <a:srgbClr val="000000"/>
                          </a:solidFill>
                          <a:latin typeface="Georgia"/>
                        </a:rPr>
                        <a:t>Query time</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37 to 94 times slower</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0.36 to 0.38 ms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r h="310896">
                <a:tc>
                  <a:txBody>
                    <a:bodyPr/>
                    <a:lstStyle/>
                    <a:p>
                      <a:r>
                        <a:rPr b="0" sz="1200">
                          <a:solidFill>
                            <a:srgbClr val="000000"/>
                          </a:solidFill>
                          <a:latin typeface="Georgia"/>
                        </a:rPr>
                        <a:t>Semantics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none</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c>
                  <a:txBody>
                    <a:bodyPr/>
                    <a:lstStyle/>
                    <a:p>
                      <a:r>
                        <a:rPr b="0" sz="1200">
                          <a:solidFill>
                            <a:srgbClr val="000000"/>
                          </a:solidFill>
                          <a:latin typeface="Georgia"/>
                        </a:rPr>
                        <a:t>typed rooms, doors, transitions</a:t>
                      </a:r>
                    </a:p>
                  </a:txBody>
                  <a:tcPr marT="38100" marB="38100">
                    <a:solidFill>
                      <a:srgbClr val="FFFFFF"/>
                    </a:solidFill>
                    <a:lnL w="9525" cap="flat">
                      <a:solidFill>
                        <a:srgbClr val="000000"/>
                      </a:solidFill>
                    </a:lnL>
                    <a:lnR w="9525" cap="flat">
                      <a:solidFill>
                        <a:srgbClr val="000000"/>
                      </a:solidFill>
                    </a:lnR>
                    <a:lnT w="9525" cap="flat">
                      <a:solidFill>
                        <a:srgbClr val="000000"/>
                      </a:solidFill>
                    </a:lnT>
                    <a:lnB w="9525" cap="flat">
                      <a:solidFill>
                        <a:srgbClr val="000000"/>
                      </a:solidFill>
                    </a:lnB>
                  </a:tcPr>
                </a:tc>
              </a:tr>
            </a:tbl>
          </a:graphicData>
        </a:graphic>
      </p:graphicFrame>
      <p:sp>
        <p:nvSpPr>
          <p:cNvPr id="8" name="TextBox 7"/>
          <p:cNvSpPr txBox="1"/>
          <p:nvPr/>
        </p:nvSpPr>
        <p:spPr>
          <a:xfrm>
            <a:off x="685800" y="3520440"/>
            <a:ext cx="10820095" cy="365760"/>
          </a:xfrm>
          <a:prstGeom prst="rect">
            <a:avLst/>
          </a:prstGeom>
          <a:noFill/>
        </p:spPr>
        <p:txBody>
          <a:bodyPr wrap="square">
            <a:spAutoFit/>
          </a:bodyPr>
          <a:lstStyle/>
          <a:p>
            <a:pPr>
              <a:spcAft>
                <a:spcPts val="600"/>
              </a:spcAft>
            </a:pPr>
            <a:r>
              <a:rPr b="0" sz="1400">
                <a:solidFill>
                  <a:srgbClr val="000000"/>
                </a:solidFill>
                <a:latin typeface="Georgia"/>
              </a:rPr>
              <a:t>The skeleton fragments at doorway gaps, which explains its incomplete connectivity, and it cannot express any of the typed downstream tasks. The typed construction is smaller, complete, closer to optimal routes, and faster to query on the same inputs.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Textual Changes in the Manuscript, Part 1</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Sections 1, 3, 9, and 11</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25</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  The contribution list is repositioned around multi-floor construction and the room-family representation, with door classification presented as a supporting deepening (R3.1a).</a:t>
            </a:r>
          </a:p>
          <a:p>
            <a:pPr>
              <a:spcAft>
                <a:spcPts val="600"/>
              </a:spcAft>
            </a:pPr>
            <a:r>
              <a:rPr b="0" sz="1400">
                <a:solidFill>
                  <a:srgbClr val="000000"/>
                </a:solidFill>
                <a:latin typeface="Georgia"/>
              </a:rPr>
              <a:t>•  Automation claims in the abstract, introduction, and Section 9 are re-audited to match the implementation, and the remaining metadata assistance, floor indices from filenames, is stated explicitly (R1.9, R2.W1, R3.2).</a:t>
            </a:r>
          </a:p>
          <a:p>
            <a:pPr>
              <a:spcAft>
                <a:spcPts val="600"/>
              </a:spcAft>
            </a:pPr>
            <a:r>
              <a:rPr b="0" sz="1400">
                <a:solidFill>
                  <a:srgbClr val="000000"/>
                </a:solidFill>
                <a:latin typeface="Georgia"/>
              </a:rPr>
              <a:t>•  The input section now defines an operating envelope, with a label vocabulary table, stated preconditions, explicit exclusions, and a demonstrated failure mode for missing label classes (R3.4, R2.W5).</a:t>
            </a:r>
          </a:p>
          <a:p>
            <a:pPr>
              <a:spcAft>
                <a:spcPts val="600"/>
              </a:spcAft>
            </a:pPr>
            <a:r>
              <a:rPr b="0" sz="1400">
                <a:solidFill>
                  <a:srgbClr val="000000"/>
                </a:solidFill>
                <a:latin typeface="Georgia"/>
              </a:rPr>
              <a:t>•  Exit doors are defined precisely, the graph is stated to be undirected, and one-way constraints are listed as a limitation with directional attributes as the extension (R2.W4).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Textual Changes in the Manuscript, Part 2</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Sections 2, 3, 5, 6, and 10</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26</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  The underlying raster representation is stated, all acronyms are introduced at first use, the OCR mechanism is described exactly as implemented, and the term semantic centroid is removed (R1.2, R1.10, R1.11, R1.17).</a:t>
            </a:r>
          </a:p>
          <a:p>
            <a:pPr>
              <a:spcAft>
                <a:spcPts val="600"/>
              </a:spcAft>
            </a:pPr>
            <a:r>
              <a:rPr b="0" sz="1400">
                <a:solidFill>
                  <a:srgbClr val="000000"/>
                </a:solidFill>
                <a:latin typeface="Georgia"/>
              </a:rPr>
              <a:t>•  A dataset figure shows the evaluation drawings, with full-width reproductions in the appendix (R1.5).</a:t>
            </a:r>
          </a:p>
          <a:p>
            <a:pPr>
              <a:spcAft>
                <a:spcPts val="600"/>
              </a:spcAft>
            </a:pPr>
            <a:r>
              <a:rPr b="0" sz="1400">
                <a:solidFill>
                  <a:srgbClr val="000000"/>
                </a:solidFill>
                <a:latin typeface="Georgia"/>
              </a:rPr>
              <a:t>•  The misplaced results paragraph is moved into the evaluation (R1.15).</a:t>
            </a:r>
          </a:p>
          <a:p>
            <a:pPr>
              <a:spcAft>
                <a:spcPts val="600"/>
              </a:spcAft>
            </a:pPr>
            <a:r>
              <a:rPr b="0" sz="1400">
                <a:solidFill>
                  <a:srgbClr val="000000"/>
                </a:solidFill>
                <a:latin typeface="Georgia"/>
              </a:rPr>
              <a:t>•  The related work section is completed, and seven inconsistencies between the earlier text and the implementation were found during the rewrite and corrected, including the segmentation being label-driven rather than color-driven and the correct subnode spacing.</a:t>
            </a:r>
          </a:p>
          <a:p>
            <a:pPr>
              <a:spcAft>
                <a:spcPts val="600"/>
              </a:spcAft>
            </a:pPr>
            <a:r>
              <a:rPr b="0" sz="1400">
                <a:solidFill>
                  <a:srgbClr val="000000"/>
                </a:solidFill>
                <a:latin typeface="Georgia"/>
              </a:rPr>
              <a:t>•  The full manuscript was swept for grammar, flow, and consistent US spelling, with the checks scripted so they can be repeated.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The Submission Package</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Repository folder paper, ready for Overleaf</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27</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The paper folder now contains exactly the submission bundle, verified so that every figure, input, and citation resolves inside it.</a:t>
            </a:r>
          </a:p>
        </p:txBody>
      </p:sp>
      <p:sp>
        <p:nvSpPr>
          <p:cNvPr id="8" name="TextBox 7"/>
          <p:cNvSpPr txBox="1"/>
          <p:nvPr/>
        </p:nvSpPr>
        <p:spPr>
          <a:xfrm>
            <a:off x="685800" y="1929384"/>
            <a:ext cx="10820095" cy="365760"/>
          </a:xfrm>
          <a:prstGeom prst="rect">
            <a:avLst/>
          </a:prstGeom>
          <a:noFill/>
        </p:spPr>
        <p:txBody>
          <a:bodyPr wrap="square">
            <a:spAutoFit/>
          </a:bodyPr>
          <a:lstStyle/>
          <a:p>
            <a:pPr>
              <a:spcAft>
                <a:spcPts val="600"/>
              </a:spcAft>
            </a:pPr>
            <a:r>
              <a:rPr b="0" sz="1400">
                <a:solidFill>
                  <a:srgbClr val="000000"/>
                </a:solidFill>
                <a:latin typeface="Georgia"/>
              </a:rPr>
              <a:t>•  </a:t>
            </a:r>
            <a:r>
              <a:rPr b="1" sz="1400">
                <a:solidFill>
                  <a:srgbClr val="000000"/>
                </a:solidFill>
                <a:latin typeface="Georgia"/>
              </a:rPr>
              <a:t>initial_submission.tex</a:t>
            </a:r>
            <a:r>
              <a:rPr b="0" sz="1400">
                <a:solidFill>
                  <a:srgbClr val="000000"/>
                </a:solidFill>
                <a:latin typeface="Georgia"/>
              </a:rPr>
              <a:t>, the frozen reference of the submitted version.</a:t>
            </a:r>
          </a:p>
          <a:p>
            <a:pPr>
              <a:spcAft>
                <a:spcPts val="600"/>
              </a:spcAft>
            </a:pPr>
            <a:r>
              <a:rPr b="0" sz="1400">
                <a:solidFill>
                  <a:srgbClr val="000000"/>
                </a:solidFill>
                <a:latin typeface="Georgia"/>
              </a:rPr>
              <a:t>•  </a:t>
            </a:r>
            <a:r>
              <a:rPr b="1" sz="1400">
                <a:solidFill>
                  <a:srgbClr val="000000"/>
                </a:solidFill>
                <a:latin typeface="Georgia"/>
              </a:rPr>
              <a:t>main_revision_1.tex</a:t>
            </a:r>
            <a:r>
              <a:rPr b="0" sz="1400">
                <a:solidFill>
                  <a:srgbClr val="000000"/>
                </a:solidFill>
                <a:latin typeface="Georgia"/>
              </a:rPr>
              <a:t>, the revised manuscript with reviewer-coded coloring, blue for Reviewer 1, green for Reviewer 2, purple for Reviewer 3, and vermilion for shared points. The coloring works in captions, tables, and titles.</a:t>
            </a:r>
          </a:p>
          <a:p>
            <a:pPr>
              <a:spcAft>
                <a:spcPts val="600"/>
              </a:spcAft>
            </a:pPr>
            <a:r>
              <a:rPr b="0" sz="1400">
                <a:solidFill>
                  <a:srgbClr val="000000"/>
                </a:solidFill>
                <a:latin typeface="Georgia"/>
              </a:rPr>
              <a:t>•  </a:t>
            </a:r>
            <a:r>
              <a:rPr b="1" sz="1400">
                <a:solidFill>
                  <a:srgbClr val="000000"/>
                </a:solidFill>
                <a:latin typeface="Georgia"/>
              </a:rPr>
              <a:t>main_revision_1_clean.tex</a:t>
            </a:r>
            <a:r>
              <a:rPr b="0" sz="1400">
                <a:solidFill>
                  <a:srgbClr val="000000"/>
                </a:solidFill>
                <a:latin typeface="Georgia"/>
              </a:rPr>
              <a:t>, the identical manuscript with the coloring disabled by one toggle line.</a:t>
            </a:r>
          </a:p>
          <a:p>
            <a:pPr>
              <a:spcAft>
                <a:spcPts val="600"/>
              </a:spcAft>
            </a:pPr>
            <a:r>
              <a:rPr b="0" sz="1400">
                <a:solidFill>
                  <a:srgbClr val="000000"/>
                </a:solidFill>
                <a:latin typeface="Georgia"/>
              </a:rPr>
              <a:t>•  </a:t>
            </a:r>
            <a:r>
              <a:rPr b="1" sz="1400">
                <a:solidFill>
                  <a:srgbClr val="000000"/>
                </a:solidFill>
                <a:latin typeface="Georgia"/>
              </a:rPr>
              <a:t>response_to_reviewers.tex</a:t>
            </a:r>
            <a:r>
              <a:rPr b="0" sz="1400">
                <a:solidFill>
                  <a:srgbClr val="000000"/>
                </a:solidFill>
                <a:latin typeface="Georgia"/>
              </a:rPr>
              <a:t>, in which every response first thanks the reviewer for the specific point, then explains what was done, and then gives the section, subsection, and figure or table location of the change.</a:t>
            </a:r>
          </a:p>
          <a:p>
            <a:pPr>
              <a:spcAft>
                <a:spcPts val="600"/>
              </a:spcAft>
            </a:pPr>
            <a:r>
              <a:rPr b="0" sz="1400">
                <a:solidFill>
                  <a:srgbClr val="000000"/>
                </a:solidFill>
                <a:latin typeface="Georgia"/>
              </a:rPr>
              <a:t>•  </a:t>
            </a:r>
            <a:r>
              <a:rPr b="1" sz="1400">
                <a:solidFill>
                  <a:srgbClr val="000000"/>
                </a:solidFill>
                <a:latin typeface="Georgia"/>
              </a:rPr>
              <a:t>table_of_changes.tex</a:t>
            </a:r>
            <a:r>
              <a:rPr b="0" sz="1400">
                <a:solidFill>
                  <a:srgbClr val="000000"/>
                </a:solidFill>
                <a:latin typeface="Georgia"/>
              </a:rPr>
              <a:t>, a fourteen-row summary with locations, plus the bibliography and all nine figure assets.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20095" cy="822960"/>
          </a:xfrm>
          <a:prstGeom prst="rect">
            <a:avLst/>
          </a:prstGeom>
          <a:noFill/>
        </p:spPr>
        <p:txBody>
          <a:bodyPr wrap="square">
            <a:spAutoFit/>
          </a:bodyPr>
          <a:lstStyle/>
          <a:p>
            <a:r>
              <a:rPr b="1" sz="2600">
                <a:solidFill>
                  <a:srgbClr val="000000"/>
                </a:solidFill>
                <a:latin typeface="Arial"/>
              </a:rPr>
              <a:t>Remaining Work Before Submission</a:t>
            </a:r>
          </a:p>
        </p:txBody>
      </p:sp>
      <p:sp>
        <p:nvSpPr>
          <p:cNvPr id="3" name="Rectangle 2"/>
          <p:cNvSpPr/>
          <p:nvPr/>
        </p:nvSpPr>
        <p:spPr>
          <a:xfrm>
            <a:off x="685800" y="1298448"/>
            <a:ext cx="10820095" cy="279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82512"/>
            <a:ext cx="10820095"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46520"/>
            <a:ext cx="8686800" cy="320040"/>
          </a:xfrm>
          <a:prstGeom prst="rect">
            <a:avLst/>
          </a:prstGeom>
          <a:noFill/>
        </p:spPr>
        <p:txBody>
          <a:bodyPr wrap="none">
            <a:spAutoFit/>
          </a:bodyPr>
          <a:lstStyle/>
          <a:p>
            <a:r>
              <a:rPr b="0" sz="900">
                <a:solidFill>
                  <a:srgbClr val="000000"/>
                </a:solidFill>
                <a:latin typeface="Arial"/>
              </a:rPr>
              <a:t>Tesseract Journal Extension, Revision 1</a:t>
            </a:r>
          </a:p>
        </p:txBody>
      </p:sp>
      <p:sp>
        <p:nvSpPr>
          <p:cNvPr id="6" name="TextBox 5"/>
          <p:cNvSpPr txBox="1"/>
          <p:nvPr/>
        </p:nvSpPr>
        <p:spPr>
          <a:xfrm>
            <a:off x="10774375" y="6446520"/>
            <a:ext cx="731520" cy="320040"/>
          </a:xfrm>
          <a:prstGeom prst="rect">
            <a:avLst/>
          </a:prstGeom>
          <a:noFill/>
        </p:spPr>
        <p:txBody>
          <a:bodyPr wrap="none">
            <a:spAutoFit/>
          </a:bodyPr>
          <a:lstStyle/>
          <a:p>
            <a:pPr algn="r"/>
            <a:r>
              <a:rPr b="0" sz="900">
                <a:solidFill>
                  <a:srgbClr val="000000"/>
                </a:solidFill>
                <a:latin typeface="Arial"/>
              </a:rPr>
              <a:t>28</a:t>
            </a:r>
          </a:p>
        </p:txBody>
      </p:sp>
      <p:sp>
        <p:nvSpPr>
          <p:cNvPr id="7" name="TextBox 6"/>
          <p:cNvSpPr txBox="1"/>
          <p:nvPr/>
        </p:nvSpPr>
        <p:spPr>
          <a:xfrm>
            <a:off x="685800" y="1508760"/>
            <a:ext cx="10820095" cy="365760"/>
          </a:xfrm>
          <a:prstGeom prst="rect">
            <a:avLst/>
          </a:prstGeom>
          <a:noFill/>
        </p:spPr>
        <p:txBody>
          <a:bodyPr wrap="square">
            <a:spAutoFit/>
          </a:bodyPr>
          <a:lstStyle/>
          <a:p>
            <a:pPr>
              <a:spcAft>
                <a:spcPts val="600"/>
              </a:spcAft>
            </a:pPr>
            <a:r>
              <a:rPr b="0" sz="1400">
                <a:solidFill>
                  <a:srgbClr val="000000"/>
                </a:solidFill>
                <a:latin typeface="Georgia"/>
              </a:rPr>
              <a:t>1.  </a:t>
            </a:r>
            <a:r>
              <a:rPr b="1" sz="1400">
                <a:solidFill>
                  <a:srgbClr val="000000"/>
                </a:solidFill>
                <a:latin typeface="Georgia"/>
              </a:rPr>
              <a:t>Consolidated dataset runs.</a:t>
            </a:r>
            <a:r>
              <a:rPr b="0" sz="1400">
                <a:solidFill>
                  <a:srgbClr val="000000"/>
                </a:solidFill>
                <a:latin typeface="Georgia"/>
              </a:rPr>
              <a:t> The full three-floor site and the restored conference sites run through the existing scripts without code changes, and they provide real precision and recall for the matcher. The manuscript slots are marked and waiting.</a:t>
            </a:r>
          </a:p>
          <a:p>
            <a:pPr>
              <a:spcAft>
                <a:spcPts val="600"/>
              </a:spcAft>
            </a:pPr>
            <a:r>
              <a:rPr b="0" sz="1400">
                <a:solidFill>
                  <a:srgbClr val="000000"/>
                </a:solidFill>
                <a:latin typeface="Georgia"/>
              </a:rPr>
              <a:t>2.  </a:t>
            </a:r>
            <a:r>
              <a:rPr b="1" sz="1400">
                <a:solidFill>
                  <a:srgbClr val="000000"/>
                </a:solidFill>
                <a:latin typeface="Georgia"/>
              </a:rPr>
              <a:t>One check against the conference sources.</a:t>
            </a:r>
            <a:r>
              <a:rPr b="0" sz="1400">
                <a:solidFill>
                  <a:srgbClr val="000000"/>
                </a:solidFill>
                <a:latin typeface="Georgia"/>
              </a:rPr>
              <a:t> Whether the door classification algorithm changed decides the final phrasing of one contribution (R3.1b).</a:t>
            </a:r>
          </a:p>
          <a:p>
            <a:pPr>
              <a:spcAft>
                <a:spcPts val="600"/>
              </a:spcAft>
            </a:pPr>
            <a:r>
              <a:rPr b="0" sz="1400">
                <a:solidFill>
                  <a:srgbClr val="000000"/>
                </a:solidFill>
                <a:latin typeface="Georgia"/>
              </a:rPr>
              <a:t>3.  </a:t>
            </a:r>
            <a:r>
              <a:rPr b="1" sz="1400">
                <a:solidFill>
                  <a:srgbClr val="000000"/>
                </a:solidFill>
                <a:latin typeface="Georgia"/>
              </a:rPr>
              <a:t>Two figure regenerations</a:t>
            </a:r>
            <a:r>
              <a:rPr b="0" sz="1400">
                <a:solidFill>
                  <a:srgbClr val="000000"/>
                </a:solidFill>
                <a:latin typeface="Georgia"/>
              </a:rPr>
              <a:t> that require the submission-era assets (R1.13, R1.16).</a:t>
            </a:r>
          </a:p>
          <a:p>
            <a:pPr>
              <a:spcAft>
                <a:spcPts val="600"/>
              </a:spcAft>
            </a:pPr>
            <a:r>
              <a:rPr b="0" sz="1400">
                <a:solidFill>
                  <a:srgbClr val="000000"/>
                </a:solidFill>
                <a:latin typeface="Georgia"/>
              </a:rPr>
              <a:t>4.  </a:t>
            </a:r>
            <a:r>
              <a:rPr b="1" sz="1400">
                <a:solidFill>
                  <a:srgbClr val="000000"/>
                </a:solidFill>
                <a:latin typeface="Georgia"/>
              </a:rPr>
              <a:t>The first Overleaf compile</a:t>
            </a:r>
            <a:r>
              <a:rPr b="0" sz="1400">
                <a:solidFill>
                  <a:srgbClr val="000000"/>
                </a:solidFill>
                <a:latin typeface="Georgia"/>
              </a:rPr>
              <a:t>, followed by filling the page numbers in the response letter and checking figure placement.</a:t>
            </a:r>
          </a:p>
          <a:p>
            <a:pPr>
              <a:spcAft>
                <a:spcPts val="600"/>
              </a:spcAft>
            </a:pPr>
            <a:r>
              <a:rPr b="0" sz="1400">
                <a:solidFill>
                  <a:srgbClr val="000000"/>
                </a:solidFill>
                <a:latin typeface="Georgia"/>
              </a:rPr>
              <a:t>5.  </a:t>
            </a:r>
            <a:r>
              <a:rPr b="1" sz="1400">
                <a:solidFill>
                  <a:srgbClr val="000000"/>
                </a:solidFill>
                <a:latin typeface="Georgia"/>
              </a:rPr>
              <a:t>Acknowledgments text</a:t>
            </a:r>
            <a:r>
              <a:rPr b="0" sz="1400">
                <a:solidFill>
                  <a:srgbClr val="000000"/>
                </a:solidFill>
                <a:latin typeface="Georgia"/>
              </a:rPr>
              <a:t> from the authors.</a:t>
            </a:r>
          </a:p>
        </p:txBody>
      </p:sp>
      <p:sp>
        <p:nvSpPr>
          <p:cNvPr id="8" name="TextBox 7"/>
          <p:cNvSpPr txBox="1"/>
          <p:nvPr/>
        </p:nvSpPr>
        <p:spPr>
          <a:xfrm>
            <a:off x="685800" y="3392424"/>
            <a:ext cx="10820095" cy="365760"/>
          </a:xfrm>
          <a:prstGeom prst="rect">
            <a:avLst/>
          </a:prstGeom>
          <a:noFill/>
        </p:spPr>
        <p:txBody>
          <a:bodyPr wrap="square">
            <a:spAutoFit/>
          </a:bodyPr>
          <a:lstStyle/>
          <a:p>
            <a:pPr>
              <a:spcAft>
                <a:spcPts val="600"/>
              </a:spcAft>
            </a:pPr>
            <a:r>
              <a:rPr b="0" sz="1400">
                <a:solidFill>
                  <a:srgbClr val="000000"/>
                </a:solidFill>
                <a:latin typeface="Georgia"/>
              </a:rPr>
              <a:t>Everything else is complete, measured, and localized. The revision aims to resolve every reviewer concern within this single round.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